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Smart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6060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8BDF8"/>
                </a:solidFill>
                <a:latin typeface="Calibri"/>
              </a:rPr>
              <a:t>Éclairage Public Intelligent &amp; Surveillance du Trafic</a:t>
            </a:r>
          </a:p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38BDF8"/>
                </a:solidFill>
                <a:latin typeface="Calibri"/>
              </a:rPr>
              <a:t>avec Traçabilité Blockchain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94A3B8"/>
                </a:solidFill>
                <a:latin typeface="Calibri"/>
              </a:rPr>
              <a:t>Projet d'ingénierie — IoT · API REST · Blockchain locale · Dashboard web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8932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github.com/djooo911/smart-city-platfrom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30936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64748B"/>
                </a:solidFill>
                <a:latin typeface="Calibri"/>
              </a:rPr>
              <a:t>Juillet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Le problème de l'éclairage public traditionnel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L'éclairage public fonctionne souvent en tout-ou-rien, sans adaptation à la luminosité réelle ou à la présence de piétons/véhicules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Gaspillage énergétique important sur un poste de dépense public significatif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Aucune traçabilité fiable des pannes, anomalies ou décisions de configuration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Les systèmes de supervision existants sont rarement vérifiables : qui a changé quoi, et quand ?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Besoin : un système intelligent, économe, ET auditable — démontrable sans déployer de vraie infrastructure physique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OBJECTIFS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Ce que le projet devait démontrer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Simuler un réseau de lampadaires connectés (capteurs + actionneur) via un microcontrôleur ESP32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Optimiser automatiquement l'intensité lumineuse selon la luminosité ambiante et la détection de présence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Détecter des anomalies : capteur hors plage, lampadaire hors-ligne, incohérence actionneur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Journaliser les événements critiques sur une blockchain locale infalsifiable (audit trail)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Exposer une API REST sécurisée (authentification, rôles) et un dashboard web de supervision en direct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Vue d'ensemble du système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2011680"/>
            <a:ext cx="3200400" cy="17373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8BDF8"/>
                </a:solidFill>
                <a:latin typeface="Calibri"/>
              </a:rPr>
              <a:t>ESP32 (Wokwi)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Capteurs simulés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Photorésistance · PIR · HC-SR04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LED PWM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2011680"/>
            <a:ext cx="3200400" cy="17373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1488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8BDF8"/>
                </a:solidFill>
                <a:latin typeface="Calibri"/>
              </a:rPr>
              <a:t>Backend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60604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Clean Architecture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Règles métier · API REST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Auth JWT + RBAC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2011680"/>
            <a:ext cx="3200400" cy="17373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14884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38BDF8"/>
                </a:solidFill>
                <a:latin typeface="Calibri"/>
              </a:rPr>
              <a:t>MongoDB Atlas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2834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Lampadaires · Relevés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Anomalies · Utilisateurs</a:t>
            </a:r>
          </a:p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E2E8F0"/>
                </a:solidFill>
                <a:latin typeface="Calibri"/>
              </a:rPr>
              <a:t>Blockchain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40480" y="2880360"/>
            <a:ext cx="320040" cy="0"/>
          </a:xfrm>
          <a:prstGeom prst="bentConnector3">
            <a:avLst/>
          </a:prstGeom>
          <a:ln w="28575">
            <a:solidFill>
              <a:srgbClr val="038C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360920" y="2880360"/>
            <a:ext cx="320040" cy="0"/>
          </a:xfrm>
          <a:prstGeom prst="bentConnector3">
            <a:avLst/>
          </a:prstGeom>
          <a:ln w="28575">
            <a:solidFill>
              <a:srgbClr val="038CC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840480" y="2971800"/>
            <a:ext cx="320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611880" y="169164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HTTP REST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1691640"/>
            <a:ext cx="868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64748B"/>
                </a:solidFill>
                <a:latin typeface="Calibri"/>
              </a:rPr>
              <a:t>async driver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60520" y="4343400"/>
            <a:ext cx="3200400" cy="10515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44805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Dashboard Web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8463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E2E8F0"/>
                </a:solidFill>
                <a:latin typeface="Calibri"/>
              </a:rPr>
              <a:t>HTML/CSS/JS · Leaflet · Chart.js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760720" y="3749040"/>
            <a:ext cx="0" cy="594360"/>
          </a:xfrm>
          <a:prstGeom prst="bentConnector3">
            <a:avLst/>
          </a:prstGeom>
          <a:ln w="28575">
            <a:solidFill>
              <a:srgbClr val="038CC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562356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64748B"/>
                </a:solidFill>
                <a:latin typeface="Calibri"/>
              </a:rPr>
              <a:t>Déploiement : backend sur Render (Docker) · base de données sur MongoDB Atlas (cloud) · frontend statique, aucun build requis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Stack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2670048" cy="4663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2670048" cy="50292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73352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IoT / Firmware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86000"/>
            <a:ext cx="235000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ESP32 (simulé sur Wokwi)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C++ / Arduino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Photorésistance, PIR, HC-SR04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LED en PWM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7288" y="1600200"/>
            <a:ext cx="2670048" cy="4663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7288" y="1600200"/>
            <a:ext cx="2670048" cy="50292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1673352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286000"/>
            <a:ext cx="235000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Python + FastAPI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Clean Architecture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MongoDB (Motor, async)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JWT + RBAC (3 rôles)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54496" y="1600200"/>
            <a:ext cx="2670048" cy="4663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54496" y="1600200"/>
            <a:ext cx="2670048" cy="50292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673352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Blockchain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286000"/>
            <a:ext cx="235000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Implémentation Python maison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SHA-256 + Proof-of-Work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Pas une cryptomonnaie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Journal infalsifiable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61704" y="1600200"/>
            <a:ext cx="2670048" cy="46634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61704" y="1600200"/>
            <a:ext cx="2670048" cy="50292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98864" y="1673352"/>
            <a:ext cx="239572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FFFFFF"/>
                </a:solidFill>
                <a:latin typeface="Calibri"/>
              </a:rPr>
              <a:t>Frontend / DevOps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2286000"/>
            <a:ext cx="2350008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HTML/CSS/JS natif (ES modules)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Leaflet.js + Chart.js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Docker / Docker Compose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250">
                <a:solidFill>
                  <a:srgbClr val="E2E8F0"/>
                </a:solidFill>
                <a:latin typeface="Calibri"/>
              </a:rPr>
              <a:t>▸  pytest + GitHub Actions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SIMULATION IOT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ESP32 et capteurs (simulés sur Wokwi)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Photorésistance (potentiomètre) → luminosité ambiante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Capteur PIR → détection de présence piétonne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HC-SR04 (ultrasons) → distance / détection de véhicule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LED en PWM → intensité lumineuse pilotée par le backend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Communication HTTP REST : le firmware s'authentifie (JWT) puis POST ses relevés vers /lamps/{id}/telemetry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Reconnexion automatique et rafraîchissement proactif du token toutes les 45 minutes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Clean Architecture — séparation des responsabilités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2103120" cy="9144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80136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Entités (LampNode, Anomaly, Block...) et règles métier pures — optimisation énergétique, détection d'anomalies. Aucune dépendance externe.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2103120" cy="9144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04495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Application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89864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Cas d'usage orchestrant le domaine : ingest_telemetry, override, acknowledge_anomaly...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886200"/>
            <a:ext cx="2103120" cy="9144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4223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99592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Repositories MongoDB, moteur blockchain (hash-chaining, Proof-of-Work)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983480"/>
            <a:ext cx="2103120" cy="9144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239512"/>
            <a:ext cx="2103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5093208"/>
            <a:ext cx="85039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E293B"/>
                </a:solidFill>
                <a:latin typeface="Calibri"/>
              </a:rPr>
              <a:t>Routers FastAPI, schémas Pydantic, authentification JWT, contrôle d'accès par rôle (RBAC)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Authentification et contrôle d'accès (RBAC)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Authentification par JWT (HS256), délivré par POST /auth/login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Trois rôles hiérarchiques : viewer &lt; operator &lt; admin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Aucun accès anonyme — chaque route protégée exige au minimum le rôle viewer, sauf /auth/login et /system/health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Mots de passe hachés (PBKDF2, bibliothèque standard — pas de dépendance externe)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Correction apportée : distinction propre entre 401 (non authentifié) et 403 (authentifié mais rôle insuffisant)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2E8F0"/>
                </a:solidFill>
                <a:latin typeface="Calibri"/>
              </a:rPr>
              <a:t>Expliquée simplement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1">
                <a:solidFill>
                  <a:srgbClr val="38BDF8"/>
                </a:solidFill>
                <a:latin typeface="Calibri"/>
              </a:rPr>
              <a:t>Imaginez un registre relié par des cachets de cire numériques.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10607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E2E8F0"/>
                </a:solidFill>
                <a:latin typeface="Calibri"/>
              </a:rPr>
              <a:t>▸  Ce n'est PAS une cryptomonnaie : c'est un journal local, append-only, infalsifiable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E2E8F0"/>
                </a:solidFill>
                <a:latin typeface="Calibri"/>
              </a:rPr>
              <a:t>▸  Chaque bloc contient ses données + une empreinte numérique (hash) du bloc précédent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E2E8F0"/>
                </a:solidFill>
                <a:latin typeface="Calibri"/>
              </a:rPr>
              <a:t>▸  Modifier un bloc ancien change son empreinte → casse le lien avec tous les blocs suivants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E2E8F0"/>
                </a:solidFill>
                <a:latin typeface="Calibri"/>
              </a:rPr>
              <a:t>▸  Cette rupture est détectée instantanément par une simple vérification (verify_chain)</a:t>
            </a:r>
          </a:p>
          <a:p>
            <a:pPr>
              <a:lnSpc>
                <a:spcPct val="108000"/>
              </a:lnSpc>
              <a:spcAft>
                <a:spcPts val="1600"/>
              </a:spcAft>
            </a:pPr>
            <a:r>
              <a:rPr sz="1700">
                <a:solidFill>
                  <a:srgbClr val="E2E8F0"/>
                </a:solidFill>
                <a:latin typeface="Calibri"/>
              </a:rPr>
              <a:t>▸  Utilisation concrète ici : chaque anomalie détectée, changement de configuration ou override manuel devient un bloc — traçabilité totale des décisions du système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Structure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Bloc = { index, timestamp, données, hash du bloc précédent, nonce, hash SHA-256 }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Consensus : Proof-of-Work simplifié (minage local, pas de réseau distribué)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Endpoint GET /blockchain/verify : revalide l'intégrité de toute la chaîne à la demande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Explorateur intégré au dashboard : liste des blocs, détail JSON, bouton de vérification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Bug corrigé pendant le développement : MongoDB tronque les dates à la milliseconde, alors que Python génère des microsecondes — le hash devait être calculé sur un timestamp normalisé pour survivre à un aller-retour en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API REST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Aperçu des endpoints principaux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10881360" cy="4572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73352"/>
            <a:ext cx="1188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Méthode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673352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Route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673352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108813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121408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Calibri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121408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93B"/>
                </a:solidFill>
                <a:latin typeface="Consolas"/>
              </a:rPr>
              <a:t>/auth/login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12140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Authentification, retourne un JWT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487168"/>
            <a:ext cx="108813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2551176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A34A"/>
                </a:solidFill>
                <a:latin typeface="Calibri"/>
              </a:rPr>
              <a:t>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551176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93B"/>
                </a:solidFill>
                <a:latin typeface="Consolas"/>
              </a:rPr>
              <a:t>/lamps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551176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Liste des lampadaires et leur état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916936"/>
            <a:ext cx="108813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80944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Calibri"/>
              </a:rPr>
              <a:t>POST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2980944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93B"/>
                </a:solidFill>
                <a:latin typeface="Consolas"/>
              </a:rPr>
              <a:t>/lamps/{id}/telemetry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980944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Ingestion d'un relevé capteur (ESP32 / simulateur)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346704"/>
            <a:ext cx="108813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410712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Calibri"/>
              </a:rPr>
              <a:t>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3410712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93B"/>
                </a:solidFill>
                <a:latin typeface="Consolas"/>
              </a:rPr>
              <a:t>/lamps/{id}/override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410712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Override manuel de luminosité (operator+)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776472"/>
            <a:ext cx="108813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384048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38CC7"/>
                </a:solidFill>
                <a:latin typeface="Calibri"/>
              </a:rPr>
              <a:t>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840480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93B"/>
                </a:solidFill>
                <a:latin typeface="Consolas"/>
              </a:rPr>
              <a:t>/lamps/{id}/config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840480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Configuration du lampadaire (admin)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206240"/>
            <a:ext cx="108813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270248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A34A"/>
                </a:solidFill>
                <a:latin typeface="Calibri"/>
              </a:rPr>
              <a:t>GET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4270248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93B"/>
                </a:solidFill>
                <a:latin typeface="Consolas"/>
              </a:rPr>
              <a:t>/alerts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4270248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Liste des anomalies détectées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636008"/>
            <a:ext cx="108813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4700016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7706"/>
                </a:solidFill>
                <a:latin typeface="Calibri"/>
              </a:rPr>
              <a:t>POST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4700016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93B"/>
                </a:solidFill>
                <a:latin typeface="Consolas"/>
              </a:rPr>
              <a:t>/alerts/{id}/acknowledge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0" y="4700016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Acquittement d'une anomalie (operator+)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5065776"/>
            <a:ext cx="108813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5129784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A34A"/>
                </a:solidFill>
                <a:latin typeface="Calibri"/>
              </a:rPr>
              <a:t>GET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5129784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93B"/>
                </a:solidFill>
                <a:latin typeface="Consolas"/>
              </a:rPr>
              <a:t>/blockchain/blocks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0" y="5129784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Liste paginée des blocs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5495544"/>
            <a:ext cx="108813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" y="5559552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A34A"/>
                </a:solidFill>
                <a:latin typeface="Calibri"/>
              </a:rPr>
              <a:t>GET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559552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93B"/>
                </a:solidFill>
                <a:latin typeface="Consolas"/>
              </a:rPr>
              <a:t>/blockchain/verify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35040" y="5559552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Vérifie l'intégrité de la chaîne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5925312"/>
            <a:ext cx="108813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5989320"/>
            <a:ext cx="1188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A34A"/>
                </a:solidFill>
                <a:latin typeface="Calibri"/>
              </a:rP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103120" y="5989320"/>
            <a:ext cx="3840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1E293B"/>
                </a:solidFill>
                <a:latin typeface="Consolas"/>
              </a:rPr>
              <a:t>/system/health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035040" y="5989320"/>
            <a:ext cx="54864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4748B"/>
                </a:solidFill>
                <a:latin typeface="Calibri"/>
              </a:rPr>
              <a:t>Health check (public)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Interface web de supervision (Milestone 7)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Onglet Carte : position des lampadaires (Leaflet), marqueurs colorés selon le statut (vert = en ligne, rouge = hors-ligne)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Onglet Lampadaires : détail par lampadaire, historique (graphique Chart.js), override manuel, configuration (admin)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Onglet Alertes : liste des anomalies, filtrage, acquittement (operator+)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Onglet Blockchain : liste des blocs, détail JSON, vérification de la chaîne en un clic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Rafraîchissement automatique toutes les ~15 secondes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HTML/JS natif, aucun framework ni build step — cohérent avec la simplicité du reste du projet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MILESTONE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Simulateur de secours (sans Wokwi)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Script Python autonome : backend/simulator/replay.py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Se connecte exactement comme le ferait l'ESP32 (même compte, mêmes endpoints)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Génère des données réalistes : courbe de luminosité jour/nuit, détections PIR et véhicule aléatoires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Récupère l'état réel du lampadaire avant le premier envoi pour éviter une fausse anomalie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Garantit une démonstration fonctionnelle même si Wokwi est indisponible le jour J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MILESTONE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Tests &amp; intégration continue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Trois catégories de tests : unitaires (logique pure), intégration (MongoDB réel), régression (API complète via TestClient)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116 tests au total, garde-fous empêchant toute exécution accidentelle contre la base de production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Pipeline GitHub Actions : exécution automatique de toute la suite à chaque push / pull request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Base MongoDB réelle en conteneur de service CI — pas de mocks, pour détecter de vrais problèmes d'intégration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Bug détecté et corrigé grâce à ce pipeline : confusion 401/403 sur les routes protégées sans jeton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DÉPLOIEMENT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De la simulation au système en ligne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Backend : déployé sur Render (conteneur Docker), déploiement continu depuis GitHub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Base de données : MongoDB Atlas — cluster cloud gratuit, accessible depuis Render et en local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Frontend : fichiers statiques (HTML/CSS/JS), servable via Docker Compose ou un simple serveur HTTP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docker-compose.yml : orchestration locale complète (backend + mongo + frontend) pour le développement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render.yaml : Blueprint Render pour un déploiement reproductible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RETOUR D'EXPÉRIENCE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Difficultés rencontrées et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459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Précision des dates MongoDB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MongoDB tronque à la milliseconde, Python génère des microsecondes → la vérification blockchain échouait en permanence. Corrigé en normalisant le timestamp avant le calcul du hash.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88920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Compatibilité API PWM ESP32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L'API PWM diffère entre le core Arduino 2.x (PlatformIO) et 3.x (Wokwi cloud) → compilation conditionnelle selon la version détectée.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931920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Câblage du moniteur série (Wokwi)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29768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Connexion manquante dans diagram.json → console vide malgré un firmware fonctionnel. Résolu en régénérant un diagramme de référence.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74920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74920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F172A"/>
                </a:solidFill>
                <a:latin typeface="Calibri"/>
              </a:rPr>
              <a:t>401 vs 403 (FastAPI)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440680"/>
            <a:ext cx="99669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4748B"/>
                </a:solidFill>
                <a:latin typeface="Calibri"/>
              </a:rPr>
              <a:t>HTTPBearer renvoie 403 par défaut sans jeton du tout, au lieu de 401 attendu — détecté par la suite de régression, corrigé avec auto_error=False.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38CC7"/>
                </a:solidFill>
                <a:latin typeface="Calibri"/>
              </a:rPr>
              <a:t>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0F172A"/>
                </a:solidFill>
                <a:latin typeface="Calibri"/>
              </a:rPr>
              <a:t>Améliorations futures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038C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00200"/>
            <a:ext cx="107899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Endpoints trafic et économies d'énergie, avec un véritable pipeline de données agrégées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Intelligence artificielle : prédiction de pannes, optimisation énergétique avancée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Notifications en temps réel (WebSocket) plutôt que du polling toutes les 15 secondes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Détection de véhicules plus fiable : recalibration du capteur HC-SR04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Liste de révocation de jetons JWT pour une désactivation immédiate des comptes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700">
                <a:solidFill>
                  <a:srgbClr val="1E293B"/>
                </a:solidFill>
                <a:latin typeface="Calibri"/>
              </a:rPr>
              <a:t>▸  Multi-nœuds / consensus distribué pour un passage à l'échelle réaliste (piste M10, hors périmètre)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4748B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38BDF8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2E8F0"/>
                </a:solidFill>
                <a:latin typeface="Calibri"/>
              </a:rPr>
              <a:t>Un système complet, testé et déployé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2011680" cy="777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M0 Socle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1828800"/>
            <a:ext cx="2011680" cy="777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926080" y="1828800"/>
            <a:ext cx="73152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82880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M1 Domaine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66360" y="1828800"/>
            <a:ext cx="2011680" cy="777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60" y="1828800"/>
            <a:ext cx="73152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49240" y="182880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M2 Blockchain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06640" y="1828800"/>
            <a:ext cx="2011680" cy="777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06640" y="1828800"/>
            <a:ext cx="73152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182880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M3 MongoDB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46920" y="1828800"/>
            <a:ext cx="2011680" cy="777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646920" y="1828800"/>
            <a:ext cx="73152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29800" y="182880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M4 API REST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834640"/>
            <a:ext cx="2011680" cy="777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2834640"/>
            <a:ext cx="73152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83464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M5 IoT (Wokwi)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834640"/>
            <a:ext cx="2011680" cy="777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0" y="2834640"/>
            <a:ext cx="73152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108960" y="283464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M6 Simulateur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66360" y="2834640"/>
            <a:ext cx="2011680" cy="777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66360" y="2834640"/>
            <a:ext cx="73152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49240" y="283464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M7 Dashboard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2834640"/>
            <a:ext cx="2011680" cy="777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06640" y="2834640"/>
            <a:ext cx="73152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283464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M8 CI/Tests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46920" y="2834640"/>
            <a:ext cx="2011680" cy="7772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46920" y="2834640"/>
            <a:ext cx="73152" cy="7772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2834640"/>
            <a:ext cx="173736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E2E8F0"/>
                </a:solidFill>
                <a:latin typeface="Calibri"/>
              </a:rPr>
              <a:t>M9 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36576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38BDF8"/>
                </a:solidFill>
                <a:latin typeface="Calibri"/>
              </a:rPr>
              <a:t>9 jalons réalisés — de la conception à un système en ligne, démontrable de bout en bout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206240"/>
            <a:ext cx="10607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▸  Simulation IoT réaliste, backend testé (116 tests), blockchain vérifiable, dashboard interactif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▸  Pipeline CI/CD garantissant la non-régression à chaque changement</a:t>
            </a:r>
          </a:p>
          <a:p>
            <a:pPr>
              <a:lnSpc>
                <a:spcPct val="108000"/>
              </a:lnSpc>
              <a:spcAft>
                <a:spcPts val="1000"/>
              </a:spcAft>
            </a:pPr>
            <a:r>
              <a:rPr sz="1500">
                <a:solidFill>
                  <a:srgbClr val="E2E8F0"/>
                </a:solidFill>
                <a:latin typeface="Calibri"/>
              </a:rPr>
              <a:t>▸  Documentation complète : architecture, README, script de démonstration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Smart City Platform — Éclairage &amp; Trafic avec Blockchain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4A3B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Merci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38BDF8"/>
                </a:solidFill>
                <a:latin typeface="Calibri"/>
              </a:rPr>
              <a:t>Des questions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github.com/djooo911/smart-city-platfrom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40680"/>
            <a:ext cx="822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4A3B8"/>
                </a:solidFill>
                <a:latin typeface="Calibri"/>
              </a:rPr>
              <a:t>Démo en direct : docs/demo-script.md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