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8BDF8"/>
                </a:solidFill>
                <a:latin typeface="Calibri"/>
              </a:rPr>
              <a:t>Smart City Lighting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Une plateforme d'éclairage public intelligent, en marque blanche, pour les municipalités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Module : Entrepreneuriat  ·  Groupe : [noms des membres]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Samedi 18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Introduction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Présentation de l'idée entrepreneuriale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Preuve de concept — une plateforme déjà développée et fonctionnelle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Le marché visé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Les 9 rubriques du Business Model Canvas, une par une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Le Canvas complet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Avantages concurrentiels et viabilité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Pourquoi cette idée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L'éclairage public représente l'un des postes de dépense énergétique les plus importants pour une municipalité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La grande majorité des installations fonctionnent encore en tout-ou-rien, sans adaptation à la présence réelle ni à la luminosité ambiante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Aucune traçabilité fiable des pannes, interventions ou décisions de configuration — un vrai problème pour la transparence des collectivités publiques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Notre idée : transformer un réseau d'éclairage public classique en réseau intelligent, économe, et entièrement auditable — sans que la municipalité ait besoin d'expertise technique interne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L'IDÉE ENTREPRENEURIALE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Le problème et notre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120640" cy="44805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12064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LE PROBLÈME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Gaspillage énergétique (éclairage constant, peu importe la présence)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Pannes détectées tardivement, souvent signalées par les citoyens eux-mêmes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Aucune traçabilité vérifiable des interventions et décisions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Coûts de maintenance élevés et imprévisibles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0200"/>
            <a:ext cx="5120640" cy="44805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1206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733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NOTRE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Capteurs IoT (luminosité, présence, trafic) sur chaque lampadaire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Optimisation automatique de l'intensité lumineuse en temps réel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Détection proactive des anomalies et pannes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Traçabilité complète via une blockchain locale infalsifiable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E2E8F0"/>
                </a:solidFill>
                <a:latin typeface="Calibri"/>
              </a:rPr>
              <a:t>▸  Dashboard web simple pour les équipes municipales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DIFFÉRENCIATEUR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Une preuve de concept déjà réalisée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Contrairement à une idée uniquement théorique, notre équipe a déjà développé et déployé un système fonctionnel de bout en bout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Backend accessible publiquement (API REST sécurisée, authentification par rôle), base de données cloud, dashboard web interactif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Simulation réaliste d'un réseau de lampadaires connectés (capteurs, actionneur LED) sur ESP32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Blockchain locale opérationnelle pour la traçabilité des anomalies et interventions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116 tests automatisés et un pipeline d'intégration continue garantissant la fiabilité du système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Ce MVP réduit considérablement le risque technique du projet entrepreneurial : la faisabilité n'est plus une hypothèse, elle est démontrée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LE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À qui s'adresse cette solution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Marché primaire : municipalités et collectivités locales, en particulier les villes petites et moyennes peu équipées en solutions coûteuses existantes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Marché secondaire : sociétés délégataires de gestion d'infrastructures urbaines, campus universitaires, zones industrielles, parkings privés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Contexte favorable : transition énergétique, pression budgétaire sur les collectivités, demande croissante de transparence publique (redevabilité, audits)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Taille du marché : chaque commune possède un parc d'éclairage public à moderniser — un marché récurrent et durable, pas un achat ponctuel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1/9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Segments de clientèle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Customer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Municipalités et collectivités locales (cible principale)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Sociétés délégataires de gestion d'infrastructures urbaines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Campus universitaires, zones industrielles, parkings privés (cible secondaire)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Profil prioritaire : villes petites/moyennes cherchant à moderniser sans lourds investissements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2/9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Proposition de valeur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Value Propositions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Réduction significative des coûts énergétiques grâce à l'adaptation automatique luminosité/présence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Détection proactive des pannes — moins d'interventions manuelles, moins de zones dans le noir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Traçabilité et auditabilité complètes (blockchain) — utile pour les rapports municipaux et la transparence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Dashboard simple, aucune expertise technique requise pour l'exploitation quotidienne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Déploiement modulaire et progressif (quartier par quartier), sans big-bang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3/9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Canaux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Vente directe aux municipalités via appels d'offres publics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Partenariats avec les installateurs et électriciens d'éclairage public existants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Démonstrations pilotes gratuites sur un quartier test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Présence dans les salons professionnels (Smart City, transition énergétique)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4/9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Relations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Customer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Contrat de service à long terme (SaaS + maintenance)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Support technique dédié et réactif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Rapports périodiques automatisés (économies réalisées, incidents résolus)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Comité de suivi régulier avec les responsables municipaux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5/9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Sources de revenus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Revenue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Abonnement SaaS mensuel ou annuel, facturé par lampadaire connecté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Vente ou location du matériel IoT (capteurs, contrôleurs, LED)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Frais d'installation et de configuration initiale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Services additionnels : rapports personnalisés, intégration avec d'autres systèmes municipaux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6/9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Ressources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Key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Plateforme logicielle (backend, dashboard, moteur blockchain) — déjà développée et testée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Équipe technique : développement, IoT, support client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Partenariats matériel (fournisseurs de capteurs et de LED)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Conformité réglementaire (protection des données publiques, sécurité)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7/9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Activités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Key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Développement et maintenance continue de la plateforme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Déploiement et installation sur site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Support client et supervision continue du réseau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Amélioration continue des algorithmes (optimisation énergétique, détection d'anomalies)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8/9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Partenaires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Key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Fabricants de capteurs et de matériel IoT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Installateurs et électriciens locaux d'éclairage public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Fournisseurs d'hébergement cloud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Institutions publiques (subventions transition énergétique, appels à projets smart city)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BMC — RUBRIQUE 9/9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Structure de coûts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38CC7"/>
                </a:solidFill>
                <a:latin typeface="Calibri"/>
              </a:rPr>
              <a:t>Cost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Développement et maintenance logicielle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Hébergement cloud (base de données, backend)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Matériel IoT (capteurs, contrôleurs, LED)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Équipe (développement, support, commercial)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1E293B"/>
                </a:solidFill>
                <a:latin typeface="Calibri"/>
              </a:rPr>
              <a:t>▸  Marketing et acquisition client (démonstrations, salons professionnels)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Le Business Model Canvas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258568" cy="4892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5448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Partenaires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4560"/>
            <a:ext cx="2112264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Fabricants IoT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Installateurs locaux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Hébergeurs cloud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Institutions publiques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508760"/>
            <a:ext cx="2258568" cy="24460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55448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Activités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75688"/>
            <a:ext cx="2112264" cy="1805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Développement plateforme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Déploiement terrain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Support &amp; supervision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3954780"/>
            <a:ext cx="2258568" cy="24460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400050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Ressources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521708"/>
            <a:ext cx="2112264" cy="1805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Plateforme logicielle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Équipe technique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Partenariats matériel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336" y="1508760"/>
            <a:ext cx="2258568" cy="4892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55448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Proposition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de valeur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194560"/>
            <a:ext cx="2112264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Économies d'énergie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Détection proactive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des pannes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Traçabilité blockchain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Dashboard simple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4" y="1508760"/>
            <a:ext cx="2258568" cy="24460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155448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Relations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075688"/>
            <a:ext cx="2112264" cy="1805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Contrat long terme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Support dédié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Rapports automatisés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2904" y="3954780"/>
            <a:ext cx="2258568" cy="24460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400050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Canaux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521708"/>
            <a:ext cx="2112264" cy="1805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Appels d'offres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Partenaires installateurs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Démos pilotes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91472" y="1508760"/>
            <a:ext cx="2258568" cy="4892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1554480"/>
            <a:ext cx="2112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Segments de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clientèle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194560"/>
            <a:ext cx="2112264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Municipalités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et collectivités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Délégataires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d'infrastructures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Campus / zones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E8F0"/>
                </a:solidFill>
                <a:latin typeface="Calibri"/>
              </a:rPr>
              <a:t>industrielles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92240"/>
            <a:ext cx="560070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53721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2E8F0"/>
                </a:solidFill>
                <a:latin typeface="Calibri"/>
              </a:rPr>
              <a:t>Structure de coûts : développement, hébergement, matériel IoT, équipe, 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20" y="6492240"/>
            <a:ext cx="5600700" cy="5029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0780" y="6537960"/>
            <a:ext cx="53721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2E8F0"/>
                </a:solidFill>
                <a:latin typeface="Calibri"/>
              </a:rPr>
              <a:t>Sources de revenus : abonnement SaaS, vente/location matériel, installation,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VIABILITÉ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Avantages concurrentiels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MVP déjà fonctionnel : réduit le risque technique perçu par les municipalités clientes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Modèle SaaS récurrent : revenus prévisibles, contrairement à la vente ponctuelle de matériel seul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Différenciation par la blockchain : peu de solutions concurrentes offrent une traçabilité aussi robuste, un vrai argument pour les marchés publics soumis à des exigences d'audit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Déploiement progressif et modulaire : abaisse la barrière à l'entrée pour des municipalités aux budgets contraints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Marché récurrent et durable : chaque commune doit moderniser son parc d'éclairage tôt ou tard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2E8F0"/>
                </a:solidFill>
                <a:latin typeface="Calibri"/>
              </a:rPr>
              <a:t>Une idée entrepreneuriale solide et déjà validée techniquement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Un vrai problème (gaspillage énergétique, manque de traçabilité) rencontrant une solution déjà techniquement prouvée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Un modèle économique récurrent (SaaS) adapté à un marché durable (municipalités)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Une proposition de valeur différenciante grâce à la blockchain, rare sur ce marché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Prochaine étape : démarche pilote avec une municipalité partenaire pour valider le modèle en conditions réelles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Business Model Canvas — Smart City Lighting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38BDF8"/>
                </a:solidFill>
                <a:latin typeface="Calibri"/>
              </a:rP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